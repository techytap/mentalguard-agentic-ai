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90" r:id="rId10"/>
    <p:sldId id="264"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1" d="100"/>
          <a:sy n="51" d="100"/>
        </p:scale>
        <p:origin x="12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7388316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Mansi Suhas Jagtap</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mansij287@gmail.com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9096660304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b="1" dirty="0" err="1"/>
              <a:t>MentalGuard</a:t>
            </a:r>
            <a:r>
              <a:rPr lang="en-IN" sz="2400" b="1" dirty="0"/>
              <a:t>: An Agentic AI for Mental Health Awareness &amp; Suicide Prevention</a:t>
            </a:r>
          </a:p>
        </p:txBody>
      </p:sp>
      <p:pic>
        <p:nvPicPr>
          <p:cNvPr id="5" name="Picture 4">
            <a:extLst>
              <a:ext uri="{FF2B5EF4-FFF2-40B4-BE49-F238E27FC236}">
                <a16:creationId xmlns:a16="http://schemas.microsoft.com/office/drawing/2014/main" id="{8AD4AB01-0224-BA2C-11F4-87AEBF0448A8}"/>
              </a:ext>
            </a:extLst>
          </p:cNvPr>
          <p:cNvPicPr>
            <a:picLocks noChangeAspect="1"/>
          </p:cNvPicPr>
          <p:nvPr/>
        </p:nvPicPr>
        <p:blipFill>
          <a:blip r:embed="rId3"/>
          <a:stretch>
            <a:fillRect/>
          </a:stretch>
        </p:blipFill>
        <p:spPr>
          <a:xfrm>
            <a:off x="4134169" y="3592998"/>
            <a:ext cx="827703" cy="10316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78423"/>
          </a:xfrm>
          <a:prstGeom prst="rect">
            <a:avLst/>
          </a:prstGeom>
          <a:noFill/>
        </p:spPr>
        <p:txBody>
          <a:bodyPr wrap="square" rtlCol="0">
            <a:spAutoFit/>
          </a:bodyPr>
          <a:lstStyle/>
          <a:p>
            <a:r>
              <a:rPr lang="en-IN" b="1" dirty="0"/>
              <a:t>Problem Statement – </a:t>
            </a:r>
            <a:r>
              <a:rPr lang="en-IN" b="1" dirty="0" err="1"/>
              <a:t>MentalGuard</a:t>
            </a:r>
            <a:endParaRPr lang="en-IN" b="1" dirty="0"/>
          </a:p>
          <a:p>
            <a:r>
              <a:rPr lang="en-IN" dirty="0"/>
              <a:t>Mental health issues such as stress, anxiety, depression, and suicidal thoughts often go unnoticed due to social stigma, lack of awareness, and limited access to timely support. Many individuals hesitate to seek professional help or may not recognize the early signs of emotional distress.</a:t>
            </a:r>
          </a:p>
          <a:p>
            <a:r>
              <a:rPr lang="en-IN" dirty="0"/>
              <a:t>The objective is to build an AI-powered Mental Health Assistant that provides emotional support, identifies potential mental health risks, and promotes early intervention.</a:t>
            </a:r>
          </a:p>
          <a:p>
            <a:r>
              <a:rPr lang="en-IN" b="1" dirty="0"/>
              <a:t>Emotion Detection (RAG):</a:t>
            </a:r>
            <a:r>
              <a:rPr lang="en-IN" dirty="0"/>
              <a:t> </a:t>
            </a:r>
          </a:p>
          <a:p>
            <a:pPr lvl="1"/>
            <a:r>
              <a:rPr lang="en-IN" dirty="0" err="1"/>
              <a:t>Analyze</a:t>
            </a:r>
            <a:r>
              <a:rPr lang="en-IN" dirty="0"/>
              <a:t> user conversations and emotional patterns. </a:t>
            </a:r>
          </a:p>
          <a:p>
            <a:pPr lvl="1"/>
            <a:r>
              <a:rPr lang="en-IN" dirty="0"/>
              <a:t>Retrieve relevant mental health resources and coping strategies. </a:t>
            </a:r>
          </a:p>
          <a:p>
            <a:r>
              <a:rPr lang="en-IN" b="1" dirty="0"/>
              <a:t>Sentiment Analysis:</a:t>
            </a:r>
            <a:r>
              <a:rPr lang="en-IN" dirty="0"/>
              <a:t> </a:t>
            </a:r>
          </a:p>
          <a:p>
            <a:pPr lvl="1"/>
            <a:r>
              <a:rPr lang="en-IN" dirty="0"/>
              <a:t>Detect signs of stress, anxiety, depression, and emotional distress. </a:t>
            </a:r>
          </a:p>
          <a:p>
            <a:r>
              <a:rPr lang="en-IN" b="1" dirty="0"/>
              <a:t>Risk Assessment:</a:t>
            </a:r>
            <a:r>
              <a:rPr lang="en-IN" dirty="0"/>
              <a:t> </a:t>
            </a:r>
          </a:p>
          <a:p>
            <a:pPr lvl="1"/>
            <a:r>
              <a:rPr lang="en-IN" dirty="0"/>
              <a:t>Identify users who may be at risk and recommend appropriate support. </a:t>
            </a:r>
          </a:p>
          <a:p>
            <a:r>
              <a:rPr lang="en-IN" b="1" dirty="0"/>
              <a:t>Multi-Agent System:</a:t>
            </a:r>
            <a:r>
              <a:rPr lang="en-IN" dirty="0"/>
              <a:t> </a:t>
            </a:r>
          </a:p>
          <a:p>
            <a:pPr lvl="1"/>
            <a:r>
              <a:rPr lang="en-IN" dirty="0"/>
              <a:t>Emotion Detection Agent </a:t>
            </a:r>
          </a:p>
          <a:p>
            <a:pPr lvl="1"/>
            <a:r>
              <a:rPr lang="en-IN" dirty="0"/>
              <a:t>Sentiment Analysis Agent </a:t>
            </a:r>
          </a:p>
          <a:p>
            <a:pPr lvl="1"/>
            <a:r>
              <a:rPr lang="en-IN" dirty="0"/>
              <a:t>Risk Assessment Agent </a:t>
            </a:r>
          </a:p>
          <a:p>
            <a:pPr lvl="1"/>
            <a:r>
              <a:rPr lang="en-IN" dirty="0"/>
              <a:t>Wellness Recommendation Agent </a:t>
            </a:r>
          </a:p>
          <a:p>
            <a:r>
              <a:rPr lang="en-IN" b="1" dirty="0"/>
              <a:t>Visualization Dashboard:</a:t>
            </a:r>
            <a:r>
              <a:rPr lang="en-IN" dirty="0"/>
              <a:t> </a:t>
            </a:r>
          </a:p>
          <a:p>
            <a:pPr lvl="1"/>
            <a:r>
              <a:rPr lang="en-IN" dirty="0"/>
              <a:t>Display mood trends, wellness insights, and support recommendations. </a:t>
            </a:r>
          </a:p>
          <a:p>
            <a:r>
              <a:rPr lang="en-IN" b="1" dirty="0"/>
              <a:t>Tech Stack:</a:t>
            </a:r>
            <a:r>
              <a:rPr lang="en-IN" dirty="0"/>
              <a:t> IBM </a:t>
            </a:r>
            <a:r>
              <a:rPr lang="en-IN" dirty="0" err="1"/>
              <a:t>LangFlow</a:t>
            </a:r>
            <a:r>
              <a:rPr lang="en-IN" dirty="0"/>
              <a:t>, IBM Granite Models, Watsonx.ai</a:t>
            </a:r>
          </a:p>
          <a:p>
            <a:br>
              <a:rPr lang="en-IN" dirty="0"/>
            </a:br>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4093428"/>
          </a:xfrm>
          <a:prstGeom prst="rect">
            <a:avLst/>
          </a:prstGeom>
          <a:noFill/>
        </p:spPr>
        <p:txBody>
          <a:bodyPr wrap="square" rtlCol="0">
            <a:spAutoFit/>
          </a:bodyPr>
          <a:lstStyle/>
          <a:p>
            <a:r>
              <a:rPr lang="en-IN" sz="2000" b="1" dirty="0"/>
              <a:t>Proposed Solution – </a:t>
            </a:r>
            <a:r>
              <a:rPr lang="en-IN" sz="2000" b="1" dirty="0" err="1"/>
              <a:t>MentalGuard</a:t>
            </a:r>
            <a:endParaRPr lang="en-IN" sz="2000" b="1" dirty="0"/>
          </a:p>
          <a:p>
            <a:r>
              <a:rPr lang="en-IN" sz="2000" dirty="0" err="1"/>
              <a:t>MentalGuard</a:t>
            </a:r>
            <a:r>
              <a:rPr lang="en-IN" sz="2000" dirty="0"/>
              <a:t> is an Agentic AI system designed to act as a compassionate digital companion.</a:t>
            </a:r>
          </a:p>
          <a:p>
            <a:r>
              <a:rPr lang="en-IN" sz="2000" b="1" dirty="0"/>
              <a:t>Data Processing:</a:t>
            </a:r>
            <a:r>
              <a:rPr lang="en-IN" sz="2000" dirty="0"/>
              <a:t> </a:t>
            </a:r>
            <a:r>
              <a:rPr lang="en-IN" sz="2000" dirty="0" err="1"/>
              <a:t>Analyze</a:t>
            </a:r>
            <a:r>
              <a:rPr lang="en-IN" sz="2000" dirty="0"/>
              <a:t> user inputs and emotional indicators. </a:t>
            </a:r>
          </a:p>
          <a:p>
            <a:r>
              <a:rPr lang="en-IN" sz="2000" b="1" dirty="0"/>
              <a:t>Emotion Detection Agent:</a:t>
            </a:r>
            <a:r>
              <a:rPr lang="en-IN" sz="2000" dirty="0"/>
              <a:t> Identifies emotions from conversations. </a:t>
            </a:r>
          </a:p>
          <a:p>
            <a:r>
              <a:rPr lang="en-IN" sz="2000" b="1" dirty="0"/>
              <a:t>Sentiment Analysis Agent:</a:t>
            </a:r>
            <a:r>
              <a:rPr lang="en-IN" sz="2000" dirty="0"/>
              <a:t> Determines stress and anxiety levels. </a:t>
            </a:r>
          </a:p>
          <a:p>
            <a:r>
              <a:rPr lang="en-IN" sz="2000" b="1" dirty="0"/>
              <a:t>Risk Assessment Agent:</a:t>
            </a:r>
            <a:r>
              <a:rPr lang="en-IN" sz="2000" dirty="0"/>
              <a:t> Detects patterns associated with depression and suicidal ideation. </a:t>
            </a:r>
          </a:p>
          <a:p>
            <a:r>
              <a:rPr lang="en-IN" sz="2000" b="1" dirty="0"/>
              <a:t>Wellness Recommendation Agent:</a:t>
            </a:r>
            <a:r>
              <a:rPr lang="en-IN" sz="2000" dirty="0"/>
              <a:t> Suggests mindfulness exercises, coping strategies, and self-care practices. </a:t>
            </a:r>
          </a:p>
          <a:p>
            <a:r>
              <a:rPr lang="en-IN" sz="2000" b="1" dirty="0"/>
              <a:t>Support Guidance:</a:t>
            </a:r>
            <a:r>
              <a:rPr lang="en-IN" sz="2000" dirty="0"/>
              <a:t> Encourages users to contact professionals or trusted individuals during critical situations. </a:t>
            </a:r>
          </a:p>
          <a:p>
            <a:r>
              <a:rPr lang="en-IN" sz="2000" b="1" dirty="0"/>
              <a:t>Continuous Learning:</a:t>
            </a:r>
            <a:r>
              <a:rPr lang="en-IN" sz="2000" dirty="0"/>
              <a:t> Improves support quality based on user interactions while maintaining privacy.</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86232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2000" b="1" dirty="0" err="1"/>
              <a:t>LangFlow</a:t>
            </a:r>
            <a:r>
              <a:rPr lang="en-IN" sz="2000" b="1" dirty="0"/>
              <a:t> Platform</a:t>
            </a:r>
            <a:r>
              <a:rPr lang="en-IN" sz="2000" dirty="0"/>
              <a:t> – Designing and orchestrating multi-agent workflows.</a:t>
            </a:r>
          </a:p>
          <a:p>
            <a:pPr marL="285750" indent="-285750">
              <a:buFont typeface="Arial" panose="020B0604020202020204" pitchFamily="34" charset="0"/>
              <a:buChar char="•"/>
            </a:pPr>
            <a:r>
              <a:rPr lang="en-IN" sz="2000" dirty="0"/>
              <a:t> </a:t>
            </a:r>
            <a:r>
              <a:rPr lang="en-IN" sz="2000" b="1" dirty="0"/>
              <a:t>IBM Granite Model (Granite-4.0-8B-Instruct)</a:t>
            </a:r>
            <a:r>
              <a:rPr lang="en-IN" sz="2000" dirty="0"/>
              <a:t> – Natural language understanding and empathetic responses.</a:t>
            </a:r>
          </a:p>
          <a:p>
            <a:pPr marL="285750" indent="-285750">
              <a:buFont typeface="Arial" panose="020B0604020202020204" pitchFamily="34" charset="0"/>
              <a:buChar char="•"/>
            </a:pPr>
            <a:r>
              <a:rPr lang="en-IN" sz="2000" dirty="0"/>
              <a:t> </a:t>
            </a:r>
            <a:r>
              <a:rPr lang="en-IN" sz="2000" b="1" dirty="0"/>
              <a:t>IBM Cloud</a:t>
            </a:r>
            <a:r>
              <a:rPr lang="en-IN" sz="2000" dirty="0"/>
              <a:t> – Secure deployment and scalability. </a:t>
            </a:r>
          </a:p>
          <a:p>
            <a:pPr marL="285750" indent="-285750">
              <a:buFont typeface="Arial" panose="020B0604020202020204" pitchFamily="34" charset="0"/>
              <a:buChar char="•"/>
            </a:pPr>
            <a:r>
              <a:rPr lang="en-IN" sz="2000" b="1" dirty="0"/>
              <a:t>RAG (Retrieval-Augmented Generation)</a:t>
            </a:r>
            <a:r>
              <a:rPr lang="en-IN" sz="2000" dirty="0"/>
              <a:t> – Fetches mental health resources and support information. </a:t>
            </a:r>
          </a:p>
          <a:p>
            <a:pPr marL="285750" indent="-285750">
              <a:buFont typeface="Arial" panose="020B0604020202020204" pitchFamily="34" charset="0"/>
              <a:buChar char="•"/>
            </a:pPr>
            <a:r>
              <a:rPr lang="en-IN" sz="2000" b="1" dirty="0"/>
              <a:t>IBM Watsonx.ai</a:t>
            </a:r>
            <a:r>
              <a:rPr lang="en-IN" sz="2000" dirty="0"/>
              <a:t> – Model deployment and AI governance. </a:t>
            </a:r>
          </a:p>
          <a:p>
            <a:pPr marL="285750" indent="-285750">
              <a:buFont typeface="Arial" panose="020B0604020202020204" pitchFamily="34" charset="0"/>
              <a:buChar char="•"/>
            </a:pPr>
            <a:r>
              <a:rPr lang="en-IN" sz="2000" b="1" dirty="0"/>
              <a:t>Vector Database (FAISS/Chroma)</a:t>
            </a:r>
            <a:r>
              <a:rPr lang="en-IN" sz="2000" dirty="0"/>
              <a:t> – Stores wellness resources, crisis support information, and conversation embeddings.</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171194"/>
          </a:xfrm>
          <a:prstGeom prst="rect">
            <a:avLst/>
          </a:prstGeom>
          <a:noFill/>
        </p:spPr>
        <p:txBody>
          <a:bodyPr wrap="square" rtlCol="0">
            <a:spAutoFit/>
          </a:bodyPr>
          <a:lstStyle/>
          <a:p>
            <a:pPr marL="342900" indent="-342900">
              <a:buFont typeface="Arial" panose="020B0604020202020204" pitchFamily="34" charset="0"/>
              <a:buChar char="•"/>
            </a:pPr>
            <a:endParaRPr lang="en-IN" sz="2000" b="1" dirty="0"/>
          </a:p>
          <a:p>
            <a:pPr marL="342900" indent="-342900">
              <a:buFont typeface="Arial" panose="020B0604020202020204" pitchFamily="34" charset="0"/>
              <a:buChar char="•"/>
            </a:pPr>
            <a:r>
              <a:rPr lang="en-IN" sz="2000" b="1" dirty="0"/>
              <a:t>Chat Input</a:t>
            </a:r>
            <a:r>
              <a:rPr lang="en-IN" sz="2000" dirty="0"/>
              <a:t> </a:t>
            </a:r>
          </a:p>
          <a:p>
            <a:pPr lvl="1"/>
            <a:r>
              <a:rPr lang="en-IN" sz="2000" dirty="0"/>
              <a:t>   Users share thoughts, emotions, or concerns. </a:t>
            </a:r>
          </a:p>
          <a:p>
            <a:pPr marL="342900" indent="-342900">
              <a:buFont typeface="Arial" panose="020B0604020202020204" pitchFamily="34" charset="0"/>
              <a:buChar char="•"/>
            </a:pPr>
            <a:r>
              <a:rPr lang="en-IN" sz="2000" b="1" dirty="0"/>
              <a:t>IBM </a:t>
            </a:r>
            <a:r>
              <a:rPr lang="en-IN" sz="2000" b="1" dirty="0" err="1"/>
              <a:t>Watsonx</a:t>
            </a:r>
            <a:r>
              <a:rPr lang="en-IN" sz="2000" b="1" dirty="0"/>
              <a:t> AI Agent</a:t>
            </a:r>
            <a:r>
              <a:rPr lang="en-IN" sz="2000" dirty="0"/>
              <a:t> </a:t>
            </a:r>
          </a:p>
          <a:p>
            <a:r>
              <a:rPr lang="en-IN" sz="2000" dirty="0"/>
              <a:t>   Processes user emotions and generates supportive responses. </a:t>
            </a:r>
          </a:p>
          <a:p>
            <a:pPr marL="342900" indent="-342900">
              <a:buFont typeface="Arial" panose="020B0604020202020204" pitchFamily="34" charset="0"/>
              <a:buChar char="•"/>
            </a:pPr>
            <a:r>
              <a:rPr lang="en-IN" sz="2000" b="1" dirty="0"/>
              <a:t>IBM Granite Model</a:t>
            </a:r>
            <a:r>
              <a:rPr lang="en-IN" sz="2000" dirty="0"/>
              <a:t> </a:t>
            </a:r>
          </a:p>
          <a:p>
            <a:r>
              <a:rPr lang="en-IN" sz="2000" dirty="0"/>
              <a:t>    Granite-4.0-8B-Instruct for empathetic and contextual interactions. </a:t>
            </a:r>
          </a:p>
          <a:p>
            <a:pPr marL="342900" indent="-342900">
              <a:buFont typeface="Arial" panose="020B0604020202020204" pitchFamily="34" charset="0"/>
              <a:buChar char="•"/>
            </a:pPr>
            <a:r>
              <a:rPr lang="en-IN" sz="2000" b="1" dirty="0"/>
              <a:t>Chat Output</a:t>
            </a:r>
            <a:r>
              <a:rPr lang="en-IN" sz="2000" dirty="0"/>
              <a:t> </a:t>
            </a:r>
          </a:p>
          <a:p>
            <a:pPr lvl="1"/>
            <a:r>
              <a:rPr lang="en-IN" sz="2000" dirty="0"/>
              <a:t>    Displays emotional insights, wellness tips, and recommendations. </a:t>
            </a:r>
          </a:p>
          <a:p>
            <a:pPr marL="342900" indent="-342900">
              <a:buFont typeface="Arial" panose="020B0604020202020204" pitchFamily="34" charset="0"/>
              <a:buChar char="•"/>
            </a:pPr>
            <a:r>
              <a:rPr lang="en-IN" sz="2000" b="1" dirty="0"/>
              <a:t>File Component</a:t>
            </a:r>
            <a:r>
              <a:rPr lang="en-IN" sz="2000" dirty="0"/>
              <a:t> </a:t>
            </a:r>
          </a:p>
          <a:p>
            <a:r>
              <a:rPr lang="en-IN" sz="2000" dirty="0"/>
              <a:t>    Stores mental health resources and educational materials. </a:t>
            </a:r>
          </a:p>
          <a:p>
            <a:pPr marL="342900" indent="-342900">
              <a:buFont typeface="Arial" panose="020B0604020202020204" pitchFamily="34" charset="0"/>
              <a:buChar char="•"/>
            </a:pPr>
            <a:r>
              <a:rPr lang="en-IN" sz="2000" b="1" dirty="0"/>
              <a:t>Data Processing Component</a:t>
            </a:r>
            <a:r>
              <a:rPr lang="en-IN" sz="2000" dirty="0"/>
              <a:t> </a:t>
            </a:r>
          </a:p>
          <a:p>
            <a:pPr lvl="1"/>
            <a:r>
              <a:rPr lang="en-IN" sz="2000" dirty="0"/>
              <a:t>    Performs sentiment analysis and emotional classification.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t>
            </a:r>
            <a:endParaRPr lang="en-IN" sz="20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5" name="Picture 4">
            <a:extLst>
              <a:ext uri="{FF2B5EF4-FFF2-40B4-BE49-F238E27FC236}">
                <a16:creationId xmlns:a16="http://schemas.microsoft.com/office/drawing/2014/main" id="{9E30E3A9-A830-6A8C-03D3-AEFF9C2B4AA0}"/>
              </a:ext>
            </a:extLst>
          </p:cNvPr>
          <p:cNvPicPr>
            <a:picLocks noChangeAspect="1"/>
          </p:cNvPicPr>
          <p:nvPr/>
        </p:nvPicPr>
        <p:blipFill>
          <a:blip r:embed="rId3"/>
          <a:stretch>
            <a:fillRect/>
          </a:stretch>
        </p:blipFill>
        <p:spPr>
          <a:xfrm>
            <a:off x="1523999" y="815454"/>
            <a:ext cx="9162197" cy="604254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0FB5DD21-8BD2-09B3-6458-48529D935B42}"/>
              </a:ext>
            </a:extLst>
          </p:cNvPr>
          <p:cNvPicPr>
            <a:picLocks noChangeAspect="1"/>
          </p:cNvPicPr>
          <p:nvPr/>
        </p:nvPicPr>
        <p:blipFill>
          <a:blip r:embed="rId3"/>
          <a:stretch>
            <a:fillRect/>
          </a:stretch>
        </p:blipFill>
        <p:spPr>
          <a:xfrm>
            <a:off x="0" y="982639"/>
            <a:ext cx="12192000" cy="44355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C15DC-585D-45C0-AC44-68E793D3778E}"/>
              </a:ext>
            </a:extLst>
          </p:cNvPr>
          <p:cNvSpPr txBox="1"/>
          <p:nvPr/>
        </p:nvSpPr>
        <p:spPr>
          <a:xfrm>
            <a:off x="425885" y="313151"/>
            <a:ext cx="11060482" cy="461665"/>
          </a:xfrm>
          <a:prstGeom prst="rect">
            <a:avLst/>
          </a:prstGeom>
          <a:noFill/>
        </p:spPr>
        <p:txBody>
          <a:bodyPr wrap="square" rtlCol="0">
            <a:spAutoFit/>
          </a:bodyPr>
          <a:lstStyle/>
          <a:p>
            <a:r>
              <a:rPr lang="en-IN" sz="2400" b="1" dirty="0" err="1"/>
              <a:t>MentalGuard</a:t>
            </a:r>
            <a:r>
              <a:rPr lang="en-IN" sz="2400" b="1" dirty="0"/>
              <a:t> User Interface</a:t>
            </a:r>
          </a:p>
        </p:txBody>
      </p:sp>
      <p:pic>
        <p:nvPicPr>
          <p:cNvPr id="4" name="Picture 3">
            <a:extLst>
              <a:ext uri="{FF2B5EF4-FFF2-40B4-BE49-F238E27FC236}">
                <a16:creationId xmlns:a16="http://schemas.microsoft.com/office/drawing/2014/main" id="{E0811227-28FD-18EA-4224-80B580EFEBC7}"/>
              </a:ext>
            </a:extLst>
          </p:cNvPr>
          <p:cNvPicPr>
            <a:picLocks noChangeAspect="1"/>
          </p:cNvPicPr>
          <p:nvPr/>
        </p:nvPicPr>
        <p:blipFill>
          <a:blip r:embed="rId2"/>
          <a:stretch>
            <a:fillRect/>
          </a:stretch>
        </p:blipFill>
        <p:spPr>
          <a:xfrm>
            <a:off x="453735" y="933005"/>
            <a:ext cx="11284530" cy="5493032"/>
          </a:xfrm>
          <a:prstGeom prst="rect">
            <a:avLst/>
          </a:prstGeom>
        </p:spPr>
      </p:pic>
    </p:spTree>
    <p:extLst>
      <p:ext uri="{BB962C8B-B14F-4D97-AF65-F5344CB8AC3E}">
        <p14:creationId xmlns:p14="http://schemas.microsoft.com/office/powerpoint/2010/main" val="1198307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093428"/>
          </a:xfrm>
          <a:prstGeom prst="rect">
            <a:avLst/>
          </a:prstGeom>
          <a:noFill/>
        </p:spPr>
        <p:txBody>
          <a:bodyPr wrap="square" rtlCol="0">
            <a:spAutoFit/>
          </a:bodyPr>
          <a:lstStyle/>
          <a:p>
            <a:r>
              <a:rPr lang="en-US" sz="2000" b="1" dirty="0"/>
              <a:t>Role of Agentic AI in </a:t>
            </a:r>
            <a:r>
              <a:rPr lang="en-US" sz="2000" b="1" dirty="0" err="1"/>
              <a:t>MindGuard</a:t>
            </a:r>
            <a:endParaRPr lang="en-US" sz="2000" b="1" dirty="0"/>
          </a:p>
          <a:p>
            <a:r>
              <a:rPr lang="en-IN" sz="2000" dirty="0"/>
              <a:t>IBM Watsonx.ai hosts the Granite foundation model, which serves as the core Agentic AI engine for </a:t>
            </a:r>
            <a:r>
              <a:rPr lang="en-IN" sz="2000" dirty="0" err="1"/>
              <a:t>MentalGuard</a:t>
            </a:r>
            <a:r>
              <a:rPr lang="en-IN" sz="2000" dirty="0"/>
              <a:t>. The system autonomously receives user inputs, </a:t>
            </a:r>
            <a:r>
              <a:rPr lang="en-IN" sz="2000" dirty="0" err="1"/>
              <a:t>analyzes</a:t>
            </a:r>
            <a:r>
              <a:rPr lang="en-IN" sz="2000" dirty="0"/>
              <a:t> emotional patterns, retrieves relevant mental health resources, and orchestrates multiple AI agents to provide personalized support.</a:t>
            </a:r>
          </a:p>
          <a:p>
            <a:r>
              <a:rPr lang="en-IN" sz="2000" dirty="0"/>
              <a:t>Using Granite's reasoning capabilities, </a:t>
            </a:r>
            <a:r>
              <a:rPr lang="en-IN" sz="2000" dirty="0" err="1"/>
              <a:t>MentalGuard</a:t>
            </a:r>
            <a:r>
              <a:rPr lang="en-IN" sz="2000" dirty="0"/>
              <a:t> delivers empathetic conversations, wellness recommendations, and early risk detection while encouraging professional intervention during critical situations. The platform aims to create a safe and accessible environment where users feel heard, supported, and empowered.</a:t>
            </a:r>
          </a:p>
          <a:p>
            <a:r>
              <a:rPr lang="en-US" sz="20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416320"/>
          </a:xfrm>
          <a:prstGeom prst="rect">
            <a:avLst/>
          </a:prstGeom>
          <a:noFill/>
        </p:spPr>
        <p:txBody>
          <a:bodyPr wrap="square" rtlCol="0">
            <a:spAutoFit/>
          </a:bodyPr>
          <a:lstStyle/>
          <a:p>
            <a:pPr marL="342900" indent="-342900">
              <a:buFont typeface="Arial" panose="020B0604020202020204" pitchFamily="34" charset="0"/>
              <a:buChar char="•"/>
            </a:pPr>
            <a:r>
              <a:rPr lang="en-IN" sz="2400" dirty="0"/>
              <a:t>Agentic AI-powered mental health assistant using IBM Granite. </a:t>
            </a:r>
          </a:p>
          <a:p>
            <a:pPr marL="342900" indent="-342900">
              <a:buFont typeface="Arial" panose="020B0604020202020204" pitchFamily="34" charset="0"/>
              <a:buChar char="•"/>
            </a:pPr>
            <a:r>
              <a:rPr lang="en-IN" sz="2400" dirty="0"/>
              <a:t>Multi-agent architecture for emotion detection and risk assessment. </a:t>
            </a:r>
          </a:p>
          <a:p>
            <a:pPr marL="342900" indent="-342900">
              <a:buFont typeface="Arial" panose="020B0604020202020204" pitchFamily="34" charset="0"/>
              <a:buChar char="•"/>
            </a:pPr>
            <a:r>
              <a:rPr lang="en-IN" sz="2400" dirty="0"/>
              <a:t>Retrieval-Augmented Generation (RAG) for accurate wellness recommendations. </a:t>
            </a:r>
          </a:p>
          <a:p>
            <a:pPr marL="342900" indent="-342900">
              <a:buFont typeface="Arial" panose="020B0604020202020204" pitchFamily="34" charset="0"/>
              <a:buChar char="•"/>
            </a:pPr>
            <a:r>
              <a:rPr lang="en-IN" sz="2400" dirty="0"/>
              <a:t>Explainable AI providing emotional insights and coping strategies. Proactive wellness check-ins and mood tracking. </a:t>
            </a:r>
          </a:p>
          <a:p>
            <a:pPr marL="342900" indent="-342900">
              <a:buFont typeface="Arial" panose="020B0604020202020204" pitchFamily="34" charset="0"/>
              <a:buChar char="•"/>
            </a:pPr>
            <a:r>
              <a:rPr lang="en-IN" sz="2400" dirty="0"/>
              <a:t>Secure and privacy-focused design. </a:t>
            </a:r>
          </a:p>
          <a:p>
            <a:pPr marL="342900" indent="-342900">
              <a:buFont typeface="Arial" panose="020B0604020202020204" pitchFamily="34" charset="0"/>
              <a:buChar char="•"/>
            </a:pPr>
            <a:r>
              <a:rPr lang="en-IN" sz="2400" dirty="0"/>
              <a:t>Scalable architecture for web and mobile applications. </a:t>
            </a:r>
          </a:p>
          <a:p>
            <a:pPr marL="342900" indent="-342900">
              <a:buFont typeface="Arial" panose="020B0604020202020204" pitchFamily="34" charset="0"/>
              <a:buChar char="•"/>
            </a:pPr>
            <a:r>
              <a:rPr lang="en-IN" sz="2400" dirty="0"/>
              <a:t>Promotes mental health awareness and suicide prevention.</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400" dirty="0" err="1">
                <a:solidFill>
                  <a:srgbClr val="2B3541"/>
                </a:solidFill>
                <a:latin typeface="Times New Roman"/>
                <a:ea typeface="Times New Roman"/>
                <a:cs typeface="Times New Roman"/>
                <a:sym typeface="Times New Roman"/>
              </a:rPr>
              <a:t>Github</a:t>
            </a:r>
            <a:r>
              <a:rPr lang="en-US" sz="2400" dirty="0">
                <a:solidFill>
                  <a:srgbClr val="2B3541"/>
                </a:solidFill>
                <a:latin typeface="Times New Roman"/>
                <a:ea typeface="Times New Roman"/>
                <a:cs typeface="Times New Roman"/>
                <a:sym typeface="Times New Roman"/>
              </a:rPr>
              <a:t> URL – https://github.com/techytap/MentalGuard-Agentic-AI</a:t>
            </a:r>
            <a:endParaRPr lang="en-US" sz="240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24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indent="-342900">
              <a:buFont typeface="Arial" panose="020B0604020202020204" pitchFamily="34" charset="0"/>
              <a:buChar char="•"/>
            </a:pPr>
            <a:r>
              <a:rPr lang="en-IN" sz="2400" dirty="0"/>
              <a:t>Integrate voice-based emotional analysis. </a:t>
            </a:r>
          </a:p>
          <a:p>
            <a:pPr marL="342900" indent="-342900">
              <a:buFont typeface="Arial" panose="020B0604020202020204" pitchFamily="34" charset="0"/>
              <a:buChar char="•"/>
            </a:pPr>
            <a:r>
              <a:rPr lang="en-IN" sz="2400" dirty="0"/>
              <a:t>Add multilingual support. </a:t>
            </a:r>
          </a:p>
          <a:p>
            <a:pPr marL="342900" indent="-342900">
              <a:buFont typeface="Arial" panose="020B0604020202020204" pitchFamily="34" charset="0"/>
              <a:buChar char="•"/>
            </a:pPr>
            <a:r>
              <a:rPr lang="en-IN" sz="2400" dirty="0"/>
              <a:t>Develop a mobile application. </a:t>
            </a:r>
          </a:p>
          <a:p>
            <a:pPr marL="342900" indent="-342900">
              <a:buFont typeface="Arial" panose="020B0604020202020204" pitchFamily="34" charset="0"/>
              <a:buChar char="•"/>
            </a:pPr>
            <a:r>
              <a:rPr lang="en-IN" sz="2400" dirty="0"/>
              <a:t>Integrate wearable devices for stress monitoring. </a:t>
            </a:r>
          </a:p>
          <a:p>
            <a:pPr marL="342900" indent="-342900">
              <a:buFont typeface="Arial" panose="020B0604020202020204" pitchFamily="34" charset="0"/>
              <a:buChar char="•"/>
            </a:pPr>
            <a:r>
              <a:rPr lang="en-IN" sz="2400" dirty="0"/>
              <a:t>Implement personalized wellness plans. </a:t>
            </a:r>
          </a:p>
          <a:p>
            <a:pPr marL="342900" indent="-342900">
              <a:buFont typeface="Arial" panose="020B0604020202020204" pitchFamily="34" charset="0"/>
              <a:buChar char="•"/>
            </a:pPr>
            <a:r>
              <a:rPr lang="en-IN" sz="2400" dirty="0"/>
              <a:t>Support therapists with AI-assisted reports. </a:t>
            </a:r>
          </a:p>
          <a:p>
            <a:pPr marL="342900" indent="-342900">
              <a:buFont typeface="Arial" panose="020B0604020202020204" pitchFamily="34" charset="0"/>
              <a:buChar char="•"/>
            </a:pPr>
            <a:r>
              <a:rPr lang="en-IN" sz="2400" dirty="0"/>
              <a:t>Add real-time crisis alerts. </a:t>
            </a:r>
          </a:p>
          <a:p>
            <a:pPr marL="342900" indent="-342900">
              <a:buFont typeface="Arial" panose="020B0604020202020204" pitchFamily="34" charset="0"/>
              <a:buChar char="•"/>
            </a:pPr>
            <a:r>
              <a:rPr lang="en-IN" sz="2400" dirty="0"/>
              <a:t>Expand to educational institutions and workplaces.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AE7454D3-C761-C2C2-084B-0215E6FA23C5}"/>
              </a:ext>
            </a:extLst>
          </p:cNvPr>
          <p:cNvPicPr>
            <a:picLocks noChangeAspect="1"/>
          </p:cNvPicPr>
          <p:nvPr/>
        </p:nvPicPr>
        <p:blipFill>
          <a:blip r:embed="rId2"/>
          <a:stretch>
            <a:fillRect/>
          </a:stretch>
        </p:blipFill>
        <p:spPr>
          <a:xfrm>
            <a:off x="2914486" y="961898"/>
            <a:ext cx="6363027" cy="493420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EC8A0F90-0C4F-B139-53EC-09977FE6C493}"/>
              </a:ext>
            </a:extLst>
          </p:cNvPr>
          <p:cNvPicPr>
            <a:picLocks noChangeAspect="1"/>
          </p:cNvPicPr>
          <p:nvPr/>
        </p:nvPicPr>
        <p:blipFill>
          <a:blip r:embed="rId2"/>
          <a:stretch>
            <a:fillRect/>
          </a:stretch>
        </p:blipFill>
        <p:spPr>
          <a:xfrm>
            <a:off x="2749378" y="1352443"/>
            <a:ext cx="6693244" cy="415311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760</Words>
  <Application>Microsoft Office PowerPoint</Application>
  <PresentationFormat>Widescreen</PresentationFormat>
  <Paragraphs>108</Paragraphs>
  <Slides>16</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Suhas Jagtap</cp:lastModifiedBy>
  <cp:revision>15</cp:revision>
  <dcterms:created xsi:type="dcterms:W3CDTF">2025-07-08T05:06:56Z</dcterms:created>
  <dcterms:modified xsi:type="dcterms:W3CDTF">2026-07-15T03:49:45Z</dcterms:modified>
</cp:coreProperties>
</file>